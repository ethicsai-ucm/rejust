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Arimo" panose="020B0604020202020204" pitchFamily="34" charset="0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DM Sans" pitchFamily="2" charset="77"/>
      <p:regular r:id="rId11"/>
      <p:bold r:id="rId12"/>
      <p:italic r:id="rId13"/>
      <p:boldItalic r:id="rId14"/>
    </p:embeddedFont>
    <p:embeddedFont>
      <p:font typeface="League Spartan" pitchFamily="2" charset="77"/>
      <p:regular r:id="rId15"/>
      <p:bold r:id="rId16"/>
    </p:embeddedFont>
    <p:embeddedFont>
      <p:font typeface="Playfair Display" pitchFamily="2" charset="77"/>
      <p:regular r:id="rId17"/>
      <p:bold r:id="rId18"/>
      <p:italic r:id="rId19"/>
      <p:boldItalic r:id="rId20"/>
    </p:embeddedFont>
    <p:embeddedFont>
      <p:font typeface="Playfair Display Semi-Bold" pitchFamily="2" charset="77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11" autoAdjust="0"/>
  </p:normalViewPr>
  <p:slideViewPr>
    <p:cSldViewPr>
      <p:cViewPr varScale="1">
        <p:scale>
          <a:sx n="73" d="100"/>
          <a:sy n="73" d="100"/>
        </p:scale>
        <p:origin x="5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23" Type="http://schemas.openxmlformats.org/officeDocument/2006/relationships/presProps" Target="presProp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9845" y="1028700"/>
            <a:ext cx="13308309" cy="5342357"/>
          </a:xfrm>
          <a:custGeom>
            <a:avLst/>
            <a:gdLst/>
            <a:ahLst/>
            <a:cxnLst/>
            <a:rect l="l" t="t" r="r" b="b"/>
            <a:pathLst>
              <a:path w="13308309" h="5342357">
                <a:moveTo>
                  <a:pt x="0" y="0"/>
                </a:moveTo>
                <a:lnTo>
                  <a:pt x="13308310" y="0"/>
                </a:lnTo>
                <a:lnTo>
                  <a:pt x="13308310" y="5342357"/>
                </a:lnTo>
                <a:lnTo>
                  <a:pt x="0" y="5342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554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028700" y="6175795"/>
            <a:ext cx="162306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8238820" y="7261037"/>
            <a:ext cx="1810360" cy="1412081"/>
          </a:xfrm>
          <a:custGeom>
            <a:avLst/>
            <a:gdLst/>
            <a:ahLst/>
            <a:cxnLst/>
            <a:rect l="l" t="t" r="r" b="b"/>
            <a:pathLst>
              <a:path w="1810360" h="1412081">
                <a:moveTo>
                  <a:pt x="0" y="0"/>
                </a:moveTo>
                <a:lnTo>
                  <a:pt x="1810360" y="0"/>
                </a:lnTo>
                <a:lnTo>
                  <a:pt x="1810360" y="1412081"/>
                </a:lnTo>
                <a:lnTo>
                  <a:pt x="0" y="14120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946597" y="5453627"/>
            <a:ext cx="12394803" cy="554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dirty="0" err="1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Apoyo</a:t>
            </a:r>
            <a:r>
              <a:rPr lang="en-US" sz="3299" dirty="0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 </a:t>
            </a:r>
            <a:r>
              <a:rPr lang="en-US" sz="3299" dirty="0" err="1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decisiones</a:t>
            </a:r>
            <a:r>
              <a:rPr lang="en-US" sz="3299" dirty="0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299" dirty="0" err="1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penales</a:t>
            </a:r>
            <a:r>
              <a:rPr lang="en-US" sz="3299" dirty="0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y </a:t>
            </a:r>
            <a:r>
              <a:rPr lang="en-US" sz="3299" dirty="0" err="1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penitenciarias</a:t>
            </a:r>
            <a:r>
              <a:rPr lang="en-US" sz="3299" dirty="0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299" dirty="0" err="1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</a:t>
            </a:r>
            <a:r>
              <a:rPr lang="en-US" sz="3299" dirty="0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299" dirty="0" err="1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España</a:t>
            </a:r>
            <a:r>
              <a:rPr lang="en-US" sz="3299" dirty="0">
                <a:solidFill>
                  <a:srgbClr val="3C393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para 2030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25552" y="8757714"/>
            <a:ext cx="7836892" cy="500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3C3936"/>
                </a:solidFill>
                <a:latin typeface="DM Sans"/>
                <a:ea typeface="DM Sans"/>
                <a:cs typeface="DM Sans"/>
                <a:sym typeface="DM Sans"/>
              </a:rPr>
              <a:t>Rodri</a:t>
            </a:r>
            <a:r>
              <a:rPr lang="en-US" sz="2899" dirty="0">
                <a:solidFill>
                  <a:srgbClr val="3C3936"/>
                </a:solidFill>
                <a:latin typeface="DM Sans"/>
                <a:ea typeface="DM Sans"/>
                <a:cs typeface="DM Sans"/>
                <a:sym typeface="DM Sans"/>
              </a:rPr>
              <a:t> · Andrea · Pablo · Jesús · Alberto · Lucas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568253"/>
            <a:ext cx="7867382" cy="4284732"/>
            <a:chOff x="0" y="0"/>
            <a:chExt cx="2072068" cy="11284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72068" cy="1128489"/>
            </a:xfrm>
            <a:custGeom>
              <a:avLst/>
              <a:gdLst/>
              <a:ahLst/>
              <a:cxnLst/>
              <a:rect l="l" t="t" r="r" b="b"/>
              <a:pathLst>
                <a:path w="2072068" h="1128489">
                  <a:moveTo>
                    <a:pt x="16729" y="0"/>
                  </a:moveTo>
                  <a:lnTo>
                    <a:pt x="2055339" y="0"/>
                  </a:lnTo>
                  <a:cubicBezTo>
                    <a:pt x="2059775" y="0"/>
                    <a:pt x="2064030" y="1763"/>
                    <a:pt x="2067168" y="4900"/>
                  </a:cubicBezTo>
                  <a:cubicBezTo>
                    <a:pt x="2070305" y="8037"/>
                    <a:pt x="2072068" y="12292"/>
                    <a:pt x="2072068" y="16729"/>
                  </a:cubicBezTo>
                  <a:lnTo>
                    <a:pt x="2072068" y="1111760"/>
                  </a:lnTo>
                  <a:cubicBezTo>
                    <a:pt x="2072068" y="1116197"/>
                    <a:pt x="2070305" y="1120452"/>
                    <a:pt x="2067168" y="1123589"/>
                  </a:cubicBezTo>
                  <a:cubicBezTo>
                    <a:pt x="2064030" y="1126727"/>
                    <a:pt x="2059775" y="1128489"/>
                    <a:pt x="2055339" y="1128489"/>
                  </a:cubicBezTo>
                  <a:lnTo>
                    <a:pt x="16729" y="1128489"/>
                  </a:lnTo>
                  <a:cubicBezTo>
                    <a:pt x="12292" y="1128489"/>
                    <a:pt x="8037" y="1126727"/>
                    <a:pt x="4900" y="1123589"/>
                  </a:cubicBezTo>
                  <a:cubicBezTo>
                    <a:pt x="1763" y="1120452"/>
                    <a:pt x="0" y="1116197"/>
                    <a:pt x="0" y="1111760"/>
                  </a:cubicBezTo>
                  <a:lnTo>
                    <a:pt x="0" y="16729"/>
                  </a:lnTo>
                  <a:cubicBezTo>
                    <a:pt x="0" y="12292"/>
                    <a:pt x="1763" y="8037"/>
                    <a:pt x="4900" y="4900"/>
                  </a:cubicBezTo>
                  <a:cubicBezTo>
                    <a:pt x="8037" y="1763"/>
                    <a:pt x="12292" y="0"/>
                    <a:pt x="16729" y="0"/>
                  </a:cubicBezTo>
                  <a:close/>
                </a:path>
              </a:pathLst>
            </a:custGeom>
            <a:solidFill>
              <a:srgbClr val="665B4F">
                <a:alpha val="4862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072068" cy="1185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91918" y="3568253"/>
            <a:ext cx="7867382" cy="4284732"/>
            <a:chOff x="0" y="0"/>
            <a:chExt cx="2072068" cy="11284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068" cy="1128489"/>
            </a:xfrm>
            <a:custGeom>
              <a:avLst/>
              <a:gdLst/>
              <a:ahLst/>
              <a:cxnLst/>
              <a:rect l="l" t="t" r="r" b="b"/>
              <a:pathLst>
                <a:path w="2072068" h="1128489">
                  <a:moveTo>
                    <a:pt x="16729" y="0"/>
                  </a:moveTo>
                  <a:lnTo>
                    <a:pt x="2055339" y="0"/>
                  </a:lnTo>
                  <a:cubicBezTo>
                    <a:pt x="2059775" y="0"/>
                    <a:pt x="2064030" y="1763"/>
                    <a:pt x="2067168" y="4900"/>
                  </a:cubicBezTo>
                  <a:cubicBezTo>
                    <a:pt x="2070305" y="8037"/>
                    <a:pt x="2072068" y="12292"/>
                    <a:pt x="2072068" y="16729"/>
                  </a:cubicBezTo>
                  <a:lnTo>
                    <a:pt x="2072068" y="1111760"/>
                  </a:lnTo>
                  <a:cubicBezTo>
                    <a:pt x="2072068" y="1116197"/>
                    <a:pt x="2070305" y="1120452"/>
                    <a:pt x="2067168" y="1123589"/>
                  </a:cubicBezTo>
                  <a:cubicBezTo>
                    <a:pt x="2064030" y="1126727"/>
                    <a:pt x="2059775" y="1128489"/>
                    <a:pt x="2055339" y="1128489"/>
                  </a:cubicBezTo>
                  <a:lnTo>
                    <a:pt x="16729" y="1128489"/>
                  </a:lnTo>
                  <a:cubicBezTo>
                    <a:pt x="12292" y="1128489"/>
                    <a:pt x="8037" y="1126727"/>
                    <a:pt x="4900" y="1123589"/>
                  </a:cubicBezTo>
                  <a:cubicBezTo>
                    <a:pt x="1763" y="1120452"/>
                    <a:pt x="0" y="1116197"/>
                    <a:pt x="0" y="1111760"/>
                  </a:cubicBezTo>
                  <a:lnTo>
                    <a:pt x="0" y="16729"/>
                  </a:lnTo>
                  <a:cubicBezTo>
                    <a:pt x="0" y="12292"/>
                    <a:pt x="1763" y="8037"/>
                    <a:pt x="4900" y="4900"/>
                  </a:cubicBezTo>
                  <a:cubicBezTo>
                    <a:pt x="8037" y="1763"/>
                    <a:pt x="12292" y="0"/>
                    <a:pt x="16729" y="0"/>
                  </a:cubicBezTo>
                  <a:close/>
                </a:path>
              </a:pathLst>
            </a:custGeom>
            <a:solidFill>
              <a:srgbClr val="665B4F">
                <a:alpha val="48627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072068" cy="1185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326731" y="2608475"/>
            <a:ext cx="5271319" cy="959778"/>
          </a:xfrm>
          <a:custGeom>
            <a:avLst/>
            <a:gdLst/>
            <a:ahLst/>
            <a:cxnLst/>
            <a:rect l="l" t="t" r="r" b="b"/>
            <a:pathLst>
              <a:path w="5271319" h="959778">
                <a:moveTo>
                  <a:pt x="0" y="0"/>
                </a:moveTo>
                <a:lnTo>
                  <a:pt x="5271319" y="0"/>
                </a:lnTo>
                <a:lnTo>
                  <a:pt x="5271319" y="959778"/>
                </a:lnTo>
                <a:lnTo>
                  <a:pt x="0" y="959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736" t="-370933" r="-132479" b="-7436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3039" y="4506076"/>
            <a:ext cx="3091677" cy="2267544"/>
          </a:xfrm>
          <a:custGeom>
            <a:avLst/>
            <a:gdLst/>
            <a:ahLst/>
            <a:cxnLst/>
            <a:rect l="l" t="t" r="r" b="b"/>
            <a:pathLst>
              <a:path w="3091677" h="2267544">
                <a:moveTo>
                  <a:pt x="0" y="0"/>
                </a:moveTo>
                <a:lnTo>
                  <a:pt x="3091677" y="0"/>
                </a:lnTo>
                <a:lnTo>
                  <a:pt x="3091677" y="2267544"/>
                </a:lnTo>
                <a:lnTo>
                  <a:pt x="0" y="226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626" t="-25539" r="-192769" b="-51334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230979" y="1314450"/>
            <a:ext cx="13826043" cy="1012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96"/>
              </a:lnSpc>
            </a:pPr>
            <a:r>
              <a:rPr lang="en-US" sz="8600" b="1" spc="-593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¿Q</a:t>
            </a:r>
            <a:r>
              <a:rPr lang="en-US" sz="8600" b="1" u="none" strike="noStrike" spc="-593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UÉ ES REJUST?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94640" y="3928384"/>
            <a:ext cx="4558126" cy="3507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1"/>
              </a:lnSpc>
              <a:spcBef>
                <a:spcPct val="0"/>
              </a:spcBef>
            </a:pPr>
            <a:r>
              <a:rPr lang="en-US" sz="25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Analiza:</a:t>
            </a:r>
          </a:p>
          <a:p>
            <a:pPr marL="543082" lvl="1" indent="-271541" algn="l">
              <a:lnSpc>
                <a:spcPts val="3521"/>
              </a:lnSpc>
              <a:buFont typeface="Arial"/>
              <a:buChar char="•"/>
            </a:pPr>
            <a:r>
              <a:rPr lang="en-US" sz="2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Expediente y pruebas</a:t>
            </a:r>
          </a:p>
          <a:p>
            <a:pPr marL="543082" lvl="1" indent="-271541" algn="l">
              <a:lnSpc>
                <a:spcPts val="3521"/>
              </a:lnSpc>
              <a:buFont typeface="Arial"/>
              <a:buChar char="•"/>
            </a:pPr>
            <a:r>
              <a:rPr lang="en-US" sz="2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Legislación y jurisprudencia</a:t>
            </a:r>
          </a:p>
          <a:p>
            <a:pPr algn="ctr">
              <a:lnSpc>
                <a:spcPts val="3521"/>
              </a:lnSpc>
              <a:spcBef>
                <a:spcPct val="0"/>
              </a:spcBef>
            </a:pPr>
            <a:endParaRPr lang="en-US" sz="2515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3521"/>
              </a:lnSpc>
              <a:spcBef>
                <a:spcPct val="0"/>
              </a:spcBef>
            </a:pPr>
            <a:r>
              <a:rPr lang="en-US" sz="251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Genera:</a:t>
            </a:r>
          </a:p>
          <a:p>
            <a:pPr marL="543082" lvl="1" indent="-271541" algn="l">
              <a:lnSpc>
                <a:spcPts val="3521"/>
              </a:lnSpc>
              <a:buFont typeface="Arial"/>
              <a:buChar char="•"/>
            </a:pPr>
            <a:r>
              <a:rPr lang="en-US" sz="2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Propuesta no vinculante</a:t>
            </a:r>
          </a:p>
          <a:p>
            <a:pPr marL="543082" lvl="1" indent="-271541" algn="l">
              <a:lnSpc>
                <a:spcPts val="3521"/>
              </a:lnSpc>
              <a:buFont typeface="Arial"/>
              <a:buChar char="•"/>
            </a:pPr>
            <a:r>
              <a:rPr lang="en-US" sz="2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Alternativas y contraargumentos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543729" y="2608475"/>
            <a:ext cx="5563760" cy="959778"/>
          </a:xfrm>
          <a:custGeom>
            <a:avLst/>
            <a:gdLst/>
            <a:ahLst/>
            <a:cxnLst/>
            <a:rect l="l" t="t" r="r" b="b"/>
            <a:pathLst>
              <a:path w="5563760" h="959778">
                <a:moveTo>
                  <a:pt x="0" y="0"/>
                </a:moveTo>
                <a:lnTo>
                  <a:pt x="5563760" y="0"/>
                </a:lnTo>
                <a:lnTo>
                  <a:pt x="5563760" y="959778"/>
                </a:lnTo>
                <a:lnTo>
                  <a:pt x="0" y="959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073" t="-370933" r="-11095" b="-74368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686362" y="4576847"/>
            <a:ext cx="2900190" cy="2267544"/>
          </a:xfrm>
          <a:custGeom>
            <a:avLst/>
            <a:gdLst/>
            <a:ahLst/>
            <a:cxnLst/>
            <a:rect l="l" t="t" r="r" b="b"/>
            <a:pathLst>
              <a:path w="2900190" h="2267544">
                <a:moveTo>
                  <a:pt x="0" y="0"/>
                </a:moveTo>
                <a:lnTo>
                  <a:pt x="2900190" y="0"/>
                </a:lnTo>
                <a:lnTo>
                  <a:pt x="2900190" y="2267544"/>
                </a:lnTo>
                <a:lnTo>
                  <a:pt x="0" y="226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9957" t="-25539" r="-45857" b="-51334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634109" y="4306544"/>
            <a:ext cx="4117191" cy="260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1"/>
              </a:lnSpc>
              <a:spcBef>
                <a:spcPct val="0"/>
              </a:spcBef>
            </a:pPr>
            <a:r>
              <a:rPr lang="en-US" sz="2515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Apoya decisiones sobre:</a:t>
            </a:r>
          </a:p>
          <a:p>
            <a:pPr marL="543082" lvl="1" indent="-271541" algn="l">
              <a:lnSpc>
                <a:spcPts val="3521"/>
              </a:lnSpc>
              <a:spcBef>
                <a:spcPct val="0"/>
              </a:spcBef>
              <a:buFont typeface="Arial"/>
              <a:buChar char="•"/>
            </a:pPr>
            <a:r>
              <a:rPr lang="en-US" sz="2515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Permisos</a:t>
            </a:r>
          </a:p>
          <a:p>
            <a:pPr marL="543082" lvl="1" indent="-271541" algn="l">
              <a:lnSpc>
                <a:spcPts val="3521"/>
              </a:lnSpc>
              <a:spcBef>
                <a:spcPct val="0"/>
              </a:spcBef>
              <a:buFont typeface="Arial"/>
              <a:buChar char="•"/>
            </a:pPr>
            <a:r>
              <a:rPr lang="en-US" sz="2515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Progresión de grado</a:t>
            </a:r>
          </a:p>
          <a:p>
            <a:pPr marL="543082" lvl="1" indent="-271541" algn="l">
              <a:lnSpc>
                <a:spcPts val="3521"/>
              </a:lnSpc>
              <a:spcBef>
                <a:spcPct val="0"/>
              </a:spcBef>
              <a:buFont typeface="Arial"/>
              <a:buChar char="•"/>
            </a:pPr>
            <a:r>
              <a:rPr lang="en-US" sz="2515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Libertad condicional</a:t>
            </a:r>
          </a:p>
          <a:p>
            <a:pPr marL="543082" lvl="1" indent="-271541" algn="l">
              <a:lnSpc>
                <a:spcPts val="3521"/>
              </a:lnSpc>
              <a:spcBef>
                <a:spcPct val="0"/>
              </a:spcBef>
              <a:buFont typeface="Arial"/>
              <a:buChar char="•"/>
            </a:pPr>
            <a:r>
              <a:rPr lang="en-US" sz="2515" u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Otras decisiones de ejecución de pena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84565" y="8129210"/>
            <a:ext cx="651887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 DECISIÓN FINAL SIEMPRE ES HUMANA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713269"/>
            <a:ext cx="3736975" cy="4633180"/>
            <a:chOff x="0" y="0"/>
            <a:chExt cx="984224" cy="12202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4224" cy="1220261"/>
            </a:xfrm>
            <a:custGeom>
              <a:avLst/>
              <a:gdLst/>
              <a:ahLst/>
              <a:cxnLst/>
              <a:rect l="l" t="t" r="r" b="b"/>
              <a:pathLst>
                <a:path w="984224" h="1220261">
                  <a:moveTo>
                    <a:pt x="35219" y="0"/>
                  </a:moveTo>
                  <a:lnTo>
                    <a:pt x="949005" y="0"/>
                  </a:lnTo>
                  <a:cubicBezTo>
                    <a:pt x="968456" y="0"/>
                    <a:pt x="984224" y="15768"/>
                    <a:pt x="984224" y="35219"/>
                  </a:cubicBezTo>
                  <a:lnTo>
                    <a:pt x="984224" y="1185042"/>
                  </a:lnTo>
                  <a:cubicBezTo>
                    <a:pt x="984224" y="1194383"/>
                    <a:pt x="980513" y="1203341"/>
                    <a:pt x="973908" y="1209946"/>
                  </a:cubicBezTo>
                  <a:cubicBezTo>
                    <a:pt x="967304" y="1216551"/>
                    <a:pt x="958345" y="1220261"/>
                    <a:pt x="949005" y="1220261"/>
                  </a:cubicBezTo>
                  <a:lnTo>
                    <a:pt x="35219" y="1220261"/>
                  </a:lnTo>
                  <a:cubicBezTo>
                    <a:pt x="15768" y="1220261"/>
                    <a:pt x="0" y="1204493"/>
                    <a:pt x="0" y="1185042"/>
                  </a:cubicBezTo>
                  <a:lnTo>
                    <a:pt x="0" y="35219"/>
                  </a:lnTo>
                  <a:cubicBezTo>
                    <a:pt x="0" y="25878"/>
                    <a:pt x="3711" y="16920"/>
                    <a:pt x="10315" y="10315"/>
                  </a:cubicBezTo>
                  <a:cubicBezTo>
                    <a:pt x="16920" y="3711"/>
                    <a:pt x="25878" y="0"/>
                    <a:pt x="35219" y="0"/>
                  </a:cubicBezTo>
                  <a:close/>
                </a:path>
              </a:pathLst>
            </a:custGeom>
            <a:solidFill>
              <a:srgbClr val="665B4F">
                <a:alpha val="48627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984224" cy="1277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48250" y="2713269"/>
            <a:ext cx="4494100" cy="4633180"/>
            <a:chOff x="0" y="0"/>
            <a:chExt cx="1183631" cy="12202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3631" cy="1220261"/>
            </a:xfrm>
            <a:custGeom>
              <a:avLst/>
              <a:gdLst/>
              <a:ahLst/>
              <a:cxnLst/>
              <a:rect l="l" t="t" r="r" b="b"/>
              <a:pathLst>
                <a:path w="1183631" h="1220261">
                  <a:moveTo>
                    <a:pt x="29286" y="0"/>
                  </a:moveTo>
                  <a:lnTo>
                    <a:pt x="1154346" y="0"/>
                  </a:lnTo>
                  <a:cubicBezTo>
                    <a:pt x="1162113" y="0"/>
                    <a:pt x="1169562" y="3085"/>
                    <a:pt x="1175054" y="8578"/>
                  </a:cubicBezTo>
                  <a:cubicBezTo>
                    <a:pt x="1180546" y="14070"/>
                    <a:pt x="1183631" y="21519"/>
                    <a:pt x="1183631" y="29286"/>
                  </a:cubicBezTo>
                  <a:lnTo>
                    <a:pt x="1183631" y="1190976"/>
                  </a:lnTo>
                  <a:cubicBezTo>
                    <a:pt x="1183631" y="1198743"/>
                    <a:pt x="1180546" y="1206192"/>
                    <a:pt x="1175054" y="1211684"/>
                  </a:cubicBezTo>
                  <a:cubicBezTo>
                    <a:pt x="1169562" y="1217176"/>
                    <a:pt x="1162113" y="1220261"/>
                    <a:pt x="1154346" y="1220261"/>
                  </a:cubicBezTo>
                  <a:lnTo>
                    <a:pt x="29286" y="1220261"/>
                  </a:lnTo>
                  <a:cubicBezTo>
                    <a:pt x="21519" y="1220261"/>
                    <a:pt x="14070" y="1217176"/>
                    <a:pt x="8578" y="1211684"/>
                  </a:cubicBezTo>
                  <a:cubicBezTo>
                    <a:pt x="3085" y="1206192"/>
                    <a:pt x="0" y="1198743"/>
                    <a:pt x="0" y="1190976"/>
                  </a:cubicBezTo>
                  <a:lnTo>
                    <a:pt x="0" y="29286"/>
                  </a:lnTo>
                  <a:cubicBezTo>
                    <a:pt x="0" y="21519"/>
                    <a:pt x="3085" y="14070"/>
                    <a:pt x="8578" y="8578"/>
                  </a:cubicBezTo>
                  <a:cubicBezTo>
                    <a:pt x="14070" y="3085"/>
                    <a:pt x="21519" y="0"/>
                    <a:pt x="29286" y="0"/>
                  </a:cubicBezTo>
                  <a:close/>
                </a:path>
              </a:pathLst>
            </a:custGeom>
            <a:solidFill>
              <a:srgbClr val="665B4F">
                <a:alpha val="48627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183631" cy="1277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579702" y="4966359"/>
            <a:ext cx="326306" cy="356619"/>
          </a:xfrm>
          <a:custGeom>
            <a:avLst/>
            <a:gdLst/>
            <a:ahLst/>
            <a:cxnLst/>
            <a:rect l="l" t="t" r="r" b="b"/>
            <a:pathLst>
              <a:path w="326306" h="356619">
                <a:moveTo>
                  <a:pt x="0" y="0"/>
                </a:moveTo>
                <a:lnTo>
                  <a:pt x="326307" y="0"/>
                </a:lnTo>
                <a:lnTo>
                  <a:pt x="326307" y="356619"/>
                </a:lnTo>
                <a:lnTo>
                  <a:pt x="0" y="35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579702" y="5390791"/>
            <a:ext cx="326306" cy="356619"/>
          </a:xfrm>
          <a:custGeom>
            <a:avLst/>
            <a:gdLst/>
            <a:ahLst/>
            <a:cxnLst/>
            <a:rect l="l" t="t" r="r" b="b"/>
            <a:pathLst>
              <a:path w="326306" h="356619">
                <a:moveTo>
                  <a:pt x="0" y="0"/>
                </a:moveTo>
                <a:lnTo>
                  <a:pt x="326307" y="0"/>
                </a:lnTo>
                <a:lnTo>
                  <a:pt x="326307" y="356619"/>
                </a:lnTo>
                <a:lnTo>
                  <a:pt x="0" y="35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579702" y="5816750"/>
            <a:ext cx="326306" cy="356619"/>
          </a:xfrm>
          <a:custGeom>
            <a:avLst/>
            <a:gdLst/>
            <a:ahLst/>
            <a:cxnLst/>
            <a:rect l="l" t="t" r="r" b="b"/>
            <a:pathLst>
              <a:path w="326306" h="356619">
                <a:moveTo>
                  <a:pt x="0" y="0"/>
                </a:moveTo>
                <a:lnTo>
                  <a:pt x="326307" y="0"/>
                </a:lnTo>
                <a:lnTo>
                  <a:pt x="326307" y="356619"/>
                </a:lnTo>
                <a:lnTo>
                  <a:pt x="0" y="35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579702" y="6240044"/>
            <a:ext cx="326306" cy="356619"/>
          </a:xfrm>
          <a:custGeom>
            <a:avLst/>
            <a:gdLst/>
            <a:ahLst/>
            <a:cxnLst/>
            <a:rect l="l" t="t" r="r" b="b"/>
            <a:pathLst>
              <a:path w="326306" h="356619">
                <a:moveTo>
                  <a:pt x="0" y="0"/>
                </a:moveTo>
                <a:lnTo>
                  <a:pt x="326307" y="0"/>
                </a:lnTo>
                <a:lnTo>
                  <a:pt x="326307" y="356619"/>
                </a:lnTo>
                <a:lnTo>
                  <a:pt x="0" y="3566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828100" y="2713269"/>
            <a:ext cx="3466997" cy="4633180"/>
            <a:chOff x="0" y="0"/>
            <a:chExt cx="913119" cy="12202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3119" cy="1220261"/>
            </a:xfrm>
            <a:custGeom>
              <a:avLst/>
              <a:gdLst/>
              <a:ahLst/>
              <a:cxnLst/>
              <a:rect l="l" t="t" r="r" b="b"/>
              <a:pathLst>
                <a:path w="913119" h="1220261">
                  <a:moveTo>
                    <a:pt x="37962" y="0"/>
                  </a:moveTo>
                  <a:lnTo>
                    <a:pt x="875157" y="0"/>
                  </a:lnTo>
                  <a:cubicBezTo>
                    <a:pt x="885225" y="0"/>
                    <a:pt x="894881" y="4000"/>
                    <a:pt x="902000" y="11119"/>
                  </a:cubicBezTo>
                  <a:cubicBezTo>
                    <a:pt x="909119" y="18238"/>
                    <a:pt x="913119" y="27894"/>
                    <a:pt x="913119" y="37962"/>
                  </a:cubicBezTo>
                  <a:lnTo>
                    <a:pt x="913119" y="1182300"/>
                  </a:lnTo>
                  <a:cubicBezTo>
                    <a:pt x="913119" y="1203265"/>
                    <a:pt x="896123" y="1220261"/>
                    <a:pt x="875157" y="1220261"/>
                  </a:cubicBezTo>
                  <a:lnTo>
                    <a:pt x="37962" y="1220261"/>
                  </a:lnTo>
                  <a:cubicBezTo>
                    <a:pt x="16996" y="1220261"/>
                    <a:pt x="0" y="1203265"/>
                    <a:pt x="0" y="1182300"/>
                  </a:cubicBezTo>
                  <a:lnTo>
                    <a:pt x="0" y="37962"/>
                  </a:lnTo>
                  <a:cubicBezTo>
                    <a:pt x="0" y="27894"/>
                    <a:pt x="4000" y="18238"/>
                    <a:pt x="11119" y="11119"/>
                  </a:cubicBezTo>
                  <a:cubicBezTo>
                    <a:pt x="18238" y="4000"/>
                    <a:pt x="27894" y="0"/>
                    <a:pt x="37962" y="0"/>
                  </a:cubicBezTo>
                  <a:close/>
                </a:path>
              </a:pathLst>
            </a:custGeom>
            <a:solidFill>
              <a:srgbClr val="665B4F">
                <a:alpha val="48627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13119" cy="1277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80847" y="2713269"/>
            <a:ext cx="3678453" cy="4633180"/>
            <a:chOff x="0" y="0"/>
            <a:chExt cx="968811" cy="12202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8811" cy="1220261"/>
            </a:xfrm>
            <a:custGeom>
              <a:avLst/>
              <a:gdLst/>
              <a:ahLst/>
              <a:cxnLst/>
              <a:rect l="l" t="t" r="r" b="b"/>
              <a:pathLst>
                <a:path w="968811" h="1220261">
                  <a:moveTo>
                    <a:pt x="35779" y="0"/>
                  </a:moveTo>
                  <a:lnTo>
                    <a:pt x="933031" y="0"/>
                  </a:lnTo>
                  <a:cubicBezTo>
                    <a:pt x="942520" y="0"/>
                    <a:pt x="951621" y="3770"/>
                    <a:pt x="958331" y="10480"/>
                  </a:cubicBezTo>
                  <a:cubicBezTo>
                    <a:pt x="965041" y="17189"/>
                    <a:pt x="968811" y="26290"/>
                    <a:pt x="968811" y="35779"/>
                  </a:cubicBezTo>
                  <a:lnTo>
                    <a:pt x="968811" y="1184482"/>
                  </a:lnTo>
                  <a:cubicBezTo>
                    <a:pt x="968811" y="1204242"/>
                    <a:pt x="952792" y="1220261"/>
                    <a:pt x="933031" y="1220261"/>
                  </a:cubicBezTo>
                  <a:lnTo>
                    <a:pt x="35779" y="1220261"/>
                  </a:lnTo>
                  <a:cubicBezTo>
                    <a:pt x="16019" y="1220261"/>
                    <a:pt x="0" y="1204242"/>
                    <a:pt x="0" y="1184482"/>
                  </a:cubicBezTo>
                  <a:lnTo>
                    <a:pt x="0" y="35779"/>
                  </a:lnTo>
                  <a:cubicBezTo>
                    <a:pt x="0" y="16019"/>
                    <a:pt x="16019" y="0"/>
                    <a:pt x="35779" y="0"/>
                  </a:cubicBezTo>
                  <a:close/>
                </a:path>
              </a:pathLst>
            </a:custGeom>
            <a:solidFill>
              <a:srgbClr val="665B4F">
                <a:alpha val="48627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968811" cy="1277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8247514"/>
            <a:ext cx="16230600" cy="873236"/>
            <a:chOff x="0" y="0"/>
            <a:chExt cx="4274726" cy="2299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74726" cy="229988"/>
            </a:xfrm>
            <a:custGeom>
              <a:avLst/>
              <a:gdLst/>
              <a:ahLst/>
              <a:cxnLst/>
              <a:rect l="l" t="t" r="r" b="b"/>
              <a:pathLst>
                <a:path w="4274726" h="229988">
                  <a:moveTo>
                    <a:pt x="8109" y="0"/>
                  </a:moveTo>
                  <a:lnTo>
                    <a:pt x="4266617" y="0"/>
                  </a:lnTo>
                  <a:cubicBezTo>
                    <a:pt x="4268768" y="0"/>
                    <a:pt x="4270830" y="854"/>
                    <a:pt x="4272351" y="2375"/>
                  </a:cubicBezTo>
                  <a:cubicBezTo>
                    <a:pt x="4273872" y="3896"/>
                    <a:pt x="4274726" y="5958"/>
                    <a:pt x="4274726" y="8109"/>
                  </a:cubicBezTo>
                  <a:lnTo>
                    <a:pt x="4274726" y="221879"/>
                  </a:lnTo>
                  <a:cubicBezTo>
                    <a:pt x="4274726" y="224030"/>
                    <a:pt x="4273872" y="226092"/>
                    <a:pt x="4272351" y="227613"/>
                  </a:cubicBezTo>
                  <a:cubicBezTo>
                    <a:pt x="4270830" y="229134"/>
                    <a:pt x="4268768" y="229988"/>
                    <a:pt x="4266617" y="229988"/>
                  </a:cubicBezTo>
                  <a:lnTo>
                    <a:pt x="8109" y="229988"/>
                  </a:lnTo>
                  <a:cubicBezTo>
                    <a:pt x="5958" y="229988"/>
                    <a:pt x="3896" y="229134"/>
                    <a:pt x="2375" y="227613"/>
                  </a:cubicBezTo>
                  <a:cubicBezTo>
                    <a:pt x="854" y="226092"/>
                    <a:pt x="0" y="224030"/>
                    <a:pt x="0" y="221879"/>
                  </a:cubicBezTo>
                  <a:lnTo>
                    <a:pt x="0" y="8109"/>
                  </a:lnTo>
                  <a:cubicBezTo>
                    <a:pt x="0" y="5958"/>
                    <a:pt x="854" y="3896"/>
                    <a:pt x="2375" y="2375"/>
                  </a:cubicBezTo>
                  <a:cubicBezTo>
                    <a:pt x="3896" y="854"/>
                    <a:pt x="5958" y="0"/>
                    <a:pt x="8109" y="0"/>
                  </a:cubicBezTo>
                  <a:close/>
                </a:path>
              </a:pathLst>
            </a:custGeom>
            <a:solidFill>
              <a:srgbClr val="665B4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4274726" cy="28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2090740" y="2789469"/>
            <a:ext cx="1612896" cy="1568282"/>
          </a:xfrm>
          <a:custGeom>
            <a:avLst/>
            <a:gdLst/>
            <a:ahLst/>
            <a:cxnLst/>
            <a:rect l="l" t="t" r="r" b="b"/>
            <a:pathLst>
              <a:path w="1612896" h="1568282">
                <a:moveTo>
                  <a:pt x="0" y="0"/>
                </a:moveTo>
                <a:lnTo>
                  <a:pt x="1612895" y="0"/>
                </a:lnTo>
                <a:lnTo>
                  <a:pt x="1612895" y="1568282"/>
                </a:lnTo>
                <a:lnTo>
                  <a:pt x="0" y="15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035" r="-269098" b="-11418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700" y="1408838"/>
            <a:ext cx="16230600" cy="82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934"/>
              </a:lnSpc>
              <a:spcBef>
                <a:spcPct val="0"/>
              </a:spcBef>
            </a:pPr>
            <a:r>
              <a:rPr lang="en-US" sz="6900" b="1" spc="-476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¿QUÉ HEMOS DEFI</a:t>
            </a:r>
            <a:r>
              <a:rPr lang="en-US" sz="6900" b="1" u="none" strike="noStrike" spc="-476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NIDO EN ESTE SPRINT 1?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33600" y="4403220"/>
            <a:ext cx="1682774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3C393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ALCANCE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27615" y="4995170"/>
            <a:ext cx="3030085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Apoyo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juicio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y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ejecución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de la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pena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96813" y="4413909"/>
            <a:ext cx="1307049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3C393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LÍMITES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30207" y="4890159"/>
            <a:ext cx="3200643" cy="215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instrucción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menores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Tribunal del Jurado</a:t>
            </a:r>
          </a:p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Sin perfiles de presos preventivos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68179" y="4419354"/>
            <a:ext cx="1223821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3C393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DATOS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30756" y="4995170"/>
            <a:ext cx="3061685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módulo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usa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solo la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información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necesaria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61016" y="4403221"/>
            <a:ext cx="2226783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>
                <a:solidFill>
                  <a:srgbClr val="3C393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PERSPECTIVA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34432" y="4995170"/>
            <a:ext cx="2765140" cy="1289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Persona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condenada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prisión</a:t>
            </a:r>
            <a:r>
              <a:rPr lang="en-US" sz="2499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823994" y="7684586"/>
            <a:ext cx="3060480" cy="446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Principios</a:t>
            </a:r>
            <a:r>
              <a:rPr lang="en-US" sz="25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clave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79899" y="8418964"/>
            <a:ext cx="11328202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CONTROL HUMANO · EXPLICABILIDAD · USO LIMITADO DE DATOS</a:t>
            </a:r>
          </a:p>
        </p:txBody>
      </p:sp>
      <p:sp>
        <p:nvSpPr>
          <p:cNvPr id="33" name="Freeform 33"/>
          <p:cNvSpPr/>
          <p:nvPr/>
        </p:nvSpPr>
        <p:spPr>
          <a:xfrm>
            <a:off x="6641776" y="2789469"/>
            <a:ext cx="1307049" cy="1568282"/>
          </a:xfrm>
          <a:custGeom>
            <a:avLst/>
            <a:gdLst/>
            <a:ahLst/>
            <a:cxnLst/>
            <a:rect l="l" t="t" r="r" b="b"/>
            <a:pathLst>
              <a:path w="1307049" h="1568282">
                <a:moveTo>
                  <a:pt x="0" y="0"/>
                </a:moveTo>
                <a:lnTo>
                  <a:pt x="1307049" y="0"/>
                </a:lnTo>
                <a:lnTo>
                  <a:pt x="1307049" y="1568282"/>
                </a:lnTo>
                <a:lnTo>
                  <a:pt x="0" y="15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7787" t="-15035" r="-227679" b="-11418"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884474" y="2789469"/>
            <a:ext cx="1354250" cy="1568282"/>
          </a:xfrm>
          <a:custGeom>
            <a:avLst/>
            <a:gdLst/>
            <a:ahLst/>
            <a:cxnLst/>
            <a:rect l="l" t="t" r="r" b="b"/>
            <a:pathLst>
              <a:path w="1354250" h="1568282">
                <a:moveTo>
                  <a:pt x="0" y="0"/>
                </a:moveTo>
                <a:lnTo>
                  <a:pt x="1354250" y="0"/>
                </a:lnTo>
                <a:lnTo>
                  <a:pt x="1354250" y="1568282"/>
                </a:lnTo>
                <a:lnTo>
                  <a:pt x="0" y="15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1227" t="-15035" r="-108364" b="-11418"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624286" y="2789469"/>
            <a:ext cx="1591576" cy="1568282"/>
          </a:xfrm>
          <a:custGeom>
            <a:avLst/>
            <a:gdLst/>
            <a:ahLst/>
            <a:cxnLst/>
            <a:rect l="l" t="t" r="r" b="b"/>
            <a:pathLst>
              <a:path w="1591576" h="1568282">
                <a:moveTo>
                  <a:pt x="0" y="0"/>
                </a:moveTo>
                <a:lnTo>
                  <a:pt x="1591576" y="0"/>
                </a:lnTo>
                <a:lnTo>
                  <a:pt x="1591576" y="1568282"/>
                </a:lnTo>
                <a:lnTo>
                  <a:pt x="0" y="1568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2261" t="-15035" r="-1781" b="-11418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58550" y="3479068"/>
            <a:ext cx="12000750" cy="4449341"/>
            <a:chOff x="0" y="0"/>
            <a:chExt cx="3160691" cy="11718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60691" cy="1171843"/>
            </a:xfrm>
            <a:custGeom>
              <a:avLst/>
              <a:gdLst/>
              <a:ahLst/>
              <a:cxnLst/>
              <a:rect l="l" t="t" r="r" b="b"/>
              <a:pathLst>
                <a:path w="3160691" h="1171843">
                  <a:moveTo>
                    <a:pt x="34191" y="0"/>
                  </a:moveTo>
                  <a:lnTo>
                    <a:pt x="3126500" y="0"/>
                  </a:lnTo>
                  <a:cubicBezTo>
                    <a:pt x="3145383" y="0"/>
                    <a:pt x="3160691" y="15308"/>
                    <a:pt x="3160691" y="34191"/>
                  </a:cubicBezTo>
                  <a:lnTo>
                    <a:pt x="3160691" y="1137651"/>
                  </a:lnTo>
                  <a:cubicBezTo>
                    <a:pt x="3160691" y="1146720"/>
                    <a:pt x="3157089" y="1155416"/>
                    <a:pt x="3150677" y="1161828"/>
                  </a:cubicBezTo>
                  <a:cubicBezTo>
                    <a:pt x="3144265" y="1168241"/>
                    <a:pt x="3135568" y="1171843"/>
                    <a:pt x="3126500" y="1171843"/>
                  </a:cubicBezTo>
                  <a:lnTo>
                    <a:pt x="34191" y="1171843"/>
                  </a:lnTo>
                  <a:cubicBezTo>
                    <a:pt x="15308" y="1171843"/>
                    <a:pt x="0" y="1156535"/>
                    <a:pt x="0" y="1137651"/>
                  </a:cubicBezTo>
                  <a:lnTo>
                    <a:pt x="0" y="34191"/>
                  </a:lnTo>
                  <a:cubicBezTo>
                    <a:pt x="0" y="25123"/>
                    <a:pt x="3602" y="16427"/>
                    <a:pt x="10014" y="10014"/>
                  </a:cubicBezTo>
                  <a:cubicBezTo>
                    <a:pt x="16427" y="3602"/>
                    <a:pt x="25123" y="0"/>
                    <a:pt x="34191" y="0"/>
                  </a:cubicBezTo>
                  <a:close/>
                </a:path>
              </a:pathLst>
            </a:custGeom>
            <a:solidFill>
              <a:srgbClr val="3C3936">
                <a:alpha val="69804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160691" cy="1228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10575" y="3321868"/>
            <a:ext cx="4220850" cy="4297064"/>
          </a:xfrm>
          <a:custGeom>
            <a:avLst/>
            <a:gdLst/>
            <a:ahLst/>
            <a:cxnLst/>
            <a:rect l="l" t="t" r="r" b="b"/>
            <a:pathLst>
              <a:path w="4220850" h="4297064">
                <a:moveTo>
                  <a:pt x="0" y="0"/>
                </a:moveTo>
                <a:lnTo>
                  <a:pt x="4220850" y="0"/>
                </a:lnTo>
                <a:lnTo>
                  <a:pt x="4220850" y="4297064"/>
                </a:lnTo>
                <a:lnTo>
                  <a:pt x="0" y="4297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1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647781" y="3010329"/>
            <a:ext cx="9222287" cy="3098245"/>
          </a:xfrm>
          <a:custGeom>
            <a:avLst/>
            <a:gdLst/>
            <a:ahLst/>
            <a:cxnLst/>
            <a:rect l="l" t="t" r="r" b="b"/>
            <a:pathLst>
              <a:path w="9222287" h="3098245">
                <a:moveTo>
                  <a:pt x="0" y="0"/>
                </a:moveTo>
                <a:lnTo>
                  <a:pt x="9222287" y="0"/>
                </a:lnTo>
                <a:lnTo>
                  <a:pt x="9222287" y="3098245"/>
                </a:lnTo>
                <a:lnTo>
                  <a:pt x="0" y="3098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323975"/>
            <a:ext cx="12649200" cy="1037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567"/>
              </a:lnSpc>
            </a:pPr>
            <a:r>
              <a:rPr lang="en-US" sz="8799" b="1" spc="-607">
                <a:solidFill>
                  <a:srgbClr val="3C3936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PRINCIPAL APRENDIZAJE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94400" y="5606089"/>
            <a:ext cx="2984493" cy="171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spc="-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QUÉ</a:t>
            </a:r>
            <a:r>
              <a:rPr lang="en-US" sz="2499" u="none" strike="noStrike" spc="-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PUEDE HACER</a:t>
            </a:r>
          </a:p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 u="none" strike="noStrike" spc="-1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 alcance y funciones.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5141" y="5606089"/>
            <a:ext cx="3407568" cy="171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HASTA DÓNDE PUEDE LLEGAR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Límites claros del sistema.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97309" y="5606089"/>
            <a:ext cx="3118840" cy="171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CÓMO SE SUPERVISA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 decisión final sigue siendo humana.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72817" y="2759503"/>
            <a:ext cx="9015016" cy="467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 definir ReJust hemos visto que era importante concretar: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37560" y="8320405"/>
            <a:ext cx="9285530" cy="93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Este primer sprint nos ha servido para acotar mejor la idea inicial y convertirla en una propuesta más concreta.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182</Words>
  <Application>Microsoft Macintosh PowerPoint</Application>
  <PresentationFormat>Personalizado</PresentationFormat>
  <Paragraphs>39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2" baseType="lpstr">
      <vt:lpstr>League Spartan</vt:lpstr>
      <vt:lpstr>Arimo</vt:lpstr>
      <vt:lpstr>Arial</vt:lpstr>
      <vt:lpstr>Playfair Display Semi-Bold</vt:lpstr>
      <vt:lpstr>DM Sans</vt:lpstr>
      <vt:lpstr>Calibri</vt:lpstr>
      <vt:lpstr>Playfair Display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EQUIPO</dc:title>
  <cp:lastModifiedBy>Microsoft Office User</cp:lastModifiedBy>
  <cp:revision>3</cp:revision>
  <dcterms:created xsi:type="dcterms:W3CDTF">2006-08-16T00:00:00Z</dcterms:created>
  <dcterms:modified xsi:type="dcterms:W3CDTF">2026-09-30T14:45:28Z</dcterms:modified>
  <dc:identifier>DAHWlkd6_Rw</dc:identifier>
</cp:coreProperties>
</file>